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6727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tema como un sistema técnico de apoyo: no decide jurídicamente si hay plagio; detecta similitudes y evidencia textual para revisión humana.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Distinguir entre similitud y plagio. La decisión de plagio requiere contexto jurídico, derechos de autor, originalidad y acceso previo. El modelo solo prioriza casos sospechosos.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Priorizar canciones con identidad peruana por autoría, interpretación, género o circulación nacional. Ejemplos de ejes: Chabuca Granda, Felipe Pinglo, Manuel Raygada, Nicomedes Santa Cruz, Augusto Polo Campos, música andina, cumbia amazónica y chicha, rock peruano y música urbana contemporánea.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práctica es separar metadatos de letras. Los metadatos suelen ser más reutilizables; las letras están protegidas por copyright. Para investigación se puede almacenar texto con acceso restringido, hashes, embeddings o fragmentos mínimos, según autorización y normativa aplicable.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corpus no debe ser solo una tabla de letras. Debe incluir canción, intérprete, autor/compositor, año, género, región, fuente, licencia, fecha de descarga/verificación y estado de derechos. La unidad de análisis será canción completa, estrofa, verso y ventana móvil de n versos.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Propuesta de pipeline: 1) ingesta y auditoría, 2) normalización, 3) segmentación, 4) indexación vectorial, 5) comparación en dos etapas, 6) calibración de umbrales, 7) revisión humana y mejora del corpus.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estrategia recomendada es híbrida: primero recuperación rápida con TF-IDF/MinHash para candidatos; luego embeddings para similitud semántica; finalmente cross-encoder o LLM en pares candidatos. Esto reduce costo y evita comparar todo contra todo de forma pesada.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Conclusión: un LLM generativo fine-tuned puede ayudar en explicación, clasificación final e identificación de paráfrasis culturales, pero requiere dataset anotado. Para la parte central de similitud, suele ser más defendible afinar un encoder o cross-encoder con aprendizaje contrastivo, triplet loss o clasificación de pares.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producto debe mostrar por qué marcó una coincidencia: versos alineados, score literal, score semántico, fuente de datos y nivel de confianza. Debe evitar emitir lenguaje acusatorio como “plagio probado”.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referencias sostienen el diseño: LyricSIM para similitud textual en letras, trabajos de plagio musical para extensión a melodía y LyricWhiz para transcripción si se trabaja desde audio con permisos.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0698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Detección de plagio en letras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canciones peruanas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04088" y="22402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7A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de Lenguaje Natural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04088" y="33375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Grupo 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04088" y="3840480"/>
            <a:ext cx="9326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Koc Góngora, Luis Enrique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Mancilla Antay, Alex Felipe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Melendez Garcia, Herbert Antonio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Paitan Cano, Dennis Jack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04088" y="6126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 metodológica minimalista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Idea central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927080" y="62819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2819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4 · PLN aplicado a letras peruanas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652760" cy="4572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 dirty="0" err="1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</a:t>
            </a:r>
            <a:r>
              <a:rPr lang="en-US" sz="29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letras peruanas para detectar coincidencias relevantes.</a:t>
            </a:r>
            <a:endParaRPr lang="en-US" sz="29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similitud puede ser literal, parcial, estructural o semántica.</a:t>
            </a:r>
            <a:endParaRPr lang="en-US" sz="29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esperado: un ranking de riesgo con fragmentos explicables.</a:t>
            </a:r>
            <a:endParaRPr lang="en-US" sz="29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apoya la revisión humana; no reemplaza el análisis legal.</a:t>
            </a:r>
            <a:endParaRPr lang="en-US" sz="2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Fuentes peruanas prioritarias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927080" y="62819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2819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4 · PLN aplicado a letras peruanas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652760" cy="4572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APDAYC: registro y metadatos de obras, autores y </a:t>
            </a:r>
            <a:r>
              <a:rPr lang="en-US" sz="2550" dirty="0" err="1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compositores</a:t>
            </a: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sz="2550" dirty="0"/>
          </a:p>
          <a:p>
            <a:pPr marL="0" indent="0">
              <a:buNone/>
            </a:pP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BNP y archivos: cancioneros, partituras, publicaciones </a:t>
            </a:r>
            <a:r>
              <a:rPr lang="en-US" sz="2550" dirty="0" err="1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históricas</a:t>
            </a: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sz="2550" dirty="0"/>
          </a:p>
          <a:p>
            <a:pPr marL="0" indent="0">
              <a:buNone/>
            </a:pP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Ministerio de Cultura: repertorios declarados patrimonio cultural.</a:t>
            </a:r>
          </a:p>
          <a:p>
            <a:pPr marL="0" indent="0">
              <a:buNone/>
            </a:pPr>
            <a:endParaRPr lang="en-US" sz="2550" dirty="0"/>
          </a:p>
          <a:p>
            <a:pPr marL="0" indent="0">
              <a:buNone/>
            </a:pP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Artistas, editoras y sellos: letras oficiales o permisos de </a:t>
            </a:r>
            <a:r>
              <a:rPr lang="en-US" sz="2550" dirty="0" err="1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</a:t>
            </a: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sz="2550" dirty="0"/>
          </a:p>
          <a:p>
            <a:pPr marL="0" indent="0">
              <a:buNone/>
            </a:pP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Música criolla, andina, afroperuana, chicha/cumbia, rock y urbano.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Fuentes complementarias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927080" y="62819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2819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4 · PLN aplicado a letras peruanas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652760" cy="4572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LyricSIM: base de similitud en letras en </a:t>
            </a:r>
            <a:r>
              <a:rPr lang="en-US" sz="2550" dirty="0" err="1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español</a:t>
            </a: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sz="2550" dirty="0"/>
          </a:p>
          <a:p>
            <a:pPr marL="0" indent="0">
              <a:buNone/>
            </a:pP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LyricsScraper: recolección controlada para ampliar </a:t>
            </a:r>
            <a:r>
              <a:rPr lang="en-US" sz="2550" dirty="0" err="1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</a:t>
            </a: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sz="2550" dirty="0"/>
          </a:p>
          <a:p>
            <a:pPr marL="0" indent="0">
              <a:buNone/>
            </a:pP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Genius, Musixmatch, Letras y LyricFind: solo con licencia o </a:t>
            </a:r>
            <a:r>
              <a:rPr lang="en-US" sz="2550" dirty="0" err="1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</a:t>
            </a: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sz="2550" dirty="0"/>
          </a:p>
          <a:p>
            <a:pPr marL="0" indent="0">
              <a:buNone/>
            </a:pP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YouTube / Spotify / MusicBrainz / Discogs: metadatos y </a:t>
            </a:r>
            <a:r>
              <a:rPr lang="en-US" sz="2550" dirty="0" err="1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</a:t>
            </a: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sz="2550" dirty="0"/>
          </a:p>
          <a:p>
            <a:pPr marL="0" indent="0">
              <a:buNone/>
            </a:pP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Audio con permiso: transcripción con Whisper y revisión humana.</a:t>
            </a:r>
            <a:endParaRPr lang="en-US" sz="2550" dirty="0">
              <a:solidFill>
                <a:srgbClr val="303030"/>
              </a:solidFill>
              <a:latin typeface="Aptos" pitchFamily="34" charset="0"/>
            </a:endParaRPr>
          </a:p>
          <a:p>
            <a:pPr marL="0" indent="0">
              <a:buNone/>
            </a:pP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Corpus: cómo construirlo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927080" y="62819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2819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4 · PLN aplicado a letras peruanas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652760" cy="4572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700" b="1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 1: </a:t>
            </a:r>
            <a:r>
              <a:rPr lang="en-US" sz="27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canciones peruanas con metadatos </a:t>
            </a:r>
            <a:r>
              <a:rPr lang="en-US" sz="2700" dirty="0" err="1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completos</a:t>
            </a:r>
            <a:r>
              <a:rPr lang="en-US" sz="27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sz="2700" dirty="0"/>
          </a:p>
          <a:p>
            <a:pPr marL="0" indent="0">
              <a:buNone/>
            </a:pPr>
            <a:r>
              <a:rPr lang="en-US" sz="27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700" b="1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 2:</a:t>
            </a:r>
            <a:r>
              <a:rPr lang="en-US" sz="27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letras autorizadas o verificables.</a:t>
            </a:r>
            <a:endParaRPr lang="en-US" sz="2700" dirty="0"/>
          </a:p>
          <a:p>
            <a:pPr marL="0" indent="0">
              <a:buNone/>
            </a:pPr>
            <a:r>
              <a:rPr lang="en-US" sz="27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r>
              <a:rPr lang="en-US" sz="2700" b="1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Capa 3:</a:t>
            </a:r>
            <a:r>
              <a:rPr lang="en-US" sz="27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fragmentos anotados por pares de canciones.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Capa 4:</a:t>
            </a:r>
            <a:r>
              <a:rPr lang="en-US" sz="27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etiquetas de similitud y nivel de riesgo.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Capa 5: </a:t>
            </a:r>
            <a:r>
              <a:rPr lang="en-US" sz="27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división train / validación / test sin fuga por artista.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Metodología técnica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927080" y="62819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2819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4 · PLN aplicado a letras peruanas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652760" cy="4572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Recolectar, documentar fuente y limpiar </a:t>
            </a:r>
            <a:r>
              <a:rPr lang="en-US" sz="2700" dirty="0" err="1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duplicados</a:t>
            </a:r>
            <a:r>
              <a:rPr lang="en-US" sz="27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sz="2700" dirty="0"/>
          </a:p>
          <a:p>
            <a:pPr marL="0" indent="0">
              <a:buNone/>
            </a:pPr>
            <a:r>
              <a:rPr lang="en-US" sz="27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Normalizar texto: tildes, mayúsculas, signos, coros y </a:t>
            </a:r>
            <a:r>
              <a:rPr lang="en-US" sz="2700" dirty="0" err="1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repeticiones</a:t>
            </a:r>
            <a:r>
              <a:rPr lang="en-US" sz="27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sz="2700" dirty="0"/>
          </a:p>
          <a:p>
            <a:pPr marL="0" indent="0">
              <a:buNone/>
            </a:pPr>
            <a:r>
              <a:rPr lang="en-US" sz="27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Segmentar: canción, estrofa, verso y ventanas </a:t>
            </a:r>
            <a:r>
              <a:rPr lang="en-US" sz="2700" dirty="0" err="1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móviles</a:t>
            </a:r>
            <a:r>
              <a:rPr lang="en-US" sz="27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sz="2700" dirty="0"/>
          </a:p>
          <a:p>
            <a:pPr marL="0" indent="0">
              <a:buNone/>
            </a:pPr>
            <a:r>
              <a:rPr lang="en-US" sz="27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Comparar: búsqueda rápida + modelo semántico + </a:t>
            </a:r>
            <a:r>
              <a:rPr lang="en-US" sz="2700" dirty="0" err="1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alineamiento</a:t>
            </a:r>
            <a:r>
              <a:rPr lang="en-US" sz="27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sz="2700" dirty="0"/>
          </a:p>
          <a:p>
            <a:pPr marL="0" indent="0">
              <a:buNone/>
            </a:pPr>
            <a:r>
              <a:rPr lang="en-US" sz="270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Reportar evidencia: fragmentos, puntaje y explicación.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Técnicas de PLN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927080" y="62819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2819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4 · PLN aplicado a letras peruanas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652760" cy="4572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Literal: n-gramas, TF-IDF, coseno, Jaccard y </a:t>
            </a:r>
            <a:r>
              <a:rPr lang="en-US" sz="2550" dirty="0" err="1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MinHash</a:t>
            </a: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sz="2550" dirty="0"/>
          </a:p>
          <a:p>
            <a:pPr marL="0" indent="0">
              <a:buNone/>
            </a:pP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Parcial: alineamiento de versos y detección de fragmentos </a:t>
            </a:r>
            <a:r>
              <a:rPr lang="en-US" sz="2550" dirty="0" err="1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compartidos</a:t>
            </a: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sz="2550" dirty="0"/>
          </a:p>
          <a:p>
            <a:pPr marL="0" indent="0">
              <a:buNone/>
            </a:pP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Semántica: BETO, SBERT multilingüe y embeddings de canciones.</a:t>
            </a:r>
          </a:p>
          <a:p>
            <a:pPr marL="0" indent="0">
              <a:buNone/>
            </a:pPr>
            <a:endParaRPr lang="en-US" sz="2550" dirty="0"/>
          </a:p>
          <a:p>
            <a:pPr marL="0" indent="0">
              <a:buNone/>
            </a:pP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Reordenamiento: cross-encoder para los pares más </a:t>
            </a:r>
            <a:r>
              <a:rPr lang="en-US" sz="2550" dirty="0" err="1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sospechosos</a:t>
            </a: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sz="2550" dirty="0"/>
          </a:p>
          <a:p>
            <a:pPr marL="0" indent="0">
              <a:buNone/>
            </a:pP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Decisión: ensamble de puntajes con umbrales calibrados.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¿Fine-tuning de LLM?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927080" y="62819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2819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4 · PLN aplicado a letras peruanas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652760" cy="4572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6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Sí, pero no como primer método.</a:t>
            </a:r>
            <a:endParaRPr lang="en-US" sz="2650" dirty="0"/>
          </a:p>
          <a:p>
            <a:pPr marL="0" indent="0">
              <a:buNone/>
            </a:pPr>
            <a:r>
              <a:rPr lang="en-US" sz="26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Primero: baselines + embeddings + cross-encoder.</a:t>
            </a:r>
            <a:endParaRPr lang="en-US" sz="2650" dirty="0"/>
          </a:p>
          <a:p>
            <a:pPr marL="0" indent="0">
              <a:buNone/>
            </a:pPr>
            <a:r>
              <a:rPr lang="en-US" sz="26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Fine-tuning solo si hay pares anotados suficientes.</a:t>
            </a:r>
            <a:endParaRPr lang="en-US" sz="2650" dirty="0"/>
          </a:p>
          <a:p>
            <a:pPr marL="0" indent="0">
              <a:buNone/>
            </a:pPr>
            <a:r>
              <a:rPr lang="en-US" sz="26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Uso ideal: clasificar riesgo y justificar evidencia.</a:t>
            </a:r>
            <a:endParaRPr lang="en-US" sz="2650" dirty="0"/>
          </a:p>
          <a:p>
            <a:pPr marL="0" indent="0">
              <a:buNone/>
            </a:pPr>
            <a:r>
              <a:rPr lang="en-US" sz="26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Alternativa más sólida: fine-tuning de Sentence-BERT o cross-encoder.</a:t>
            </a:r>
            <a:endParaRPr lang="en-US" sz="2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Evaluación y producto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927080" y="62819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2819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4 · PLN aplicado a letras peruanas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652760" cy="4572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Validación: pares positivos, negativos y casos límite.</a:t>
            </a:r>
            <a:endParaRPr lang="en-US" sz="2550" dirty="0"/>
          </a:p>
          <a:p>
            <a:pPr marL="0" indent="0">
              <a:buNone/>
            </a:pP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Métricas: precisión, recall, F1, AUC y precisión@k.</a:t>
            </a:r>
            <a:endParaRPr lang="en-US" sz="2550" dirty="0"/>
          </a:p>
          <a:p>
            <a:pPr marL="0" indent="0">
              <a:buNone/>
            </a:pP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Revisión experta: música, derecho de autor y lingüística.</a:t>
            </a:r>
            <a:endParaRPr lang="en-US" sz="2550" dirty="0"/>
          </a:p>
          <a:p>
            <a:pPr marL="0" indent="0">
              <a:buNone/>
            </a:pP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Producto: prototipo que prioriza casos y muestra evidencia.</a:t>
            </a:r>
            <a:endParaRPr lang="en-US" sz="2550" dirty="0"/>
          </a:p>
          <a:p>
            <a:pPr marL="0" indent="0">
              <a:buNone/>
            </a:pPr>
            <a:r>
              <a:rPr lang="en-US" sz="255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Ética: licencias, trazabilidad y cero acusaciones automáticas.</a:t>
            </a:r>
            <a:endParaRPr lang="en-US" sz="2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Referencias base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927080" y="62819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2819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4 · PLN aplicado a letras peruanas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652760" cy="4572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38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Benito-Santos et al. (2023): LyricSIM, similitud en letras españolas.</a:t>
            </a:r>
            <a:endParaRPr lang="en-US" sz="2380" dirty="0"/>
          </a:p>
          <a:p>
            <a:pPr marL="0" indent="0">
              <a:buNone/>
            </a:pPr>
            <a:r>
              <a:rPr lang="en-US" sz="238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Liu et al. (2021): detección fina de plagio musical.</a:t>
            </a:r>
            <a:endParaRPr lang="en-US" sz="2380" dirty="0"/>
          </a:p>
          <a:p>
            <a:pPr marL="0" indent="0">
              <a:buNone/>
            </a:pPr>
            <a:r>
              <a:rPr lang="en-US" sz="238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Lu et al. (2025): MelodySim y similitud melódica.</a:t>
            </a:r>
            <a:endParaRPr lang="en-US" sz="2380" dirty="0"/>
          </a:p>
          <a:p>
            <a:pPr marL="0" indent="0">
              <a:buNone/>
            </a:pPr>
            <a:r>
              <a:rPr lang="en-US" sz="238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Zhuo et al. (2023): LyricWhiz, transcripción multilingüe.</a:t>
            </a:r>
            <a:endParaRPr lang="en-US" sz="2380" dirty="0"/>
          </a:p>
          <a:p>
            <a:pPr marL="0" indent="0">
              <a:buNone/>
            </a:pPr>
            <a:r>
              <a:rPr lang="en-US" sz="2380" dirty="0">
                <a:solidFill>
                  <a:srgbClr val="30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Fuentes peruanas: APDAYC, BNP, Ministerio de Cultura y permisos directos.</a:t>
            </a:r>
            <a:endParaRPr lang="en-US" sz="23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a9b9e15-83d2-4075-9282-a04e05c6580a}" enabled="1" method="Standard" siteId="{24139d14-c62c-4c47-8bdd-ce71ea1d50c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1112</Words>
  <Application>Microsoft Office PowerPoint</Application>
  <PresentationFormat>Widescreen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Grupo 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de Plagio en Letras de Canciones Peruanas</dc:title>
  <dc:subject>Propuesta de investigación aplicada</dc:subject>
  <dc:creator>Grupo 4</dc:creator>
  <cp:lastModifiedBy>KOC Luis (ENGIE Energía Perú)</cp:lastModifiedBy>
  <cp:revision>2</cp:revision>
  <dcterms:created xsi:type="dcterms:W3CDTF">2026-05-31T00:03:15Z</dcterms:created>
  <dcterms:modified xsi:type="dcterms:W3CDTF">2026-05-31T00:11:09Z</dcterms:modified>
</cp:coreProperties>
</file>