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34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Trabajo Final PLN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Moderador de contenido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videos de YouTube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Propuesta técnica: detectar contenido racista/xenófobo, bullying/acoso y sexual explícito usando transcripciones, títulos, descripciones y comentarios.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6656" y="3858768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BBF24">
              <a:alpha val="94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227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APIs para etiquetar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3858768"/>
            <a:ext cx="1737360" cy="329184"/>
          </a:xfrm>
          <a:prstGeom prst="roundRect">
            <a:avLst>
              <a:gd name="adj" fmla="val 33333"/>
            </a:avLst>
          </a:prstGeom>
          <a:solidFill>
            <a:srgbClr val="34D399">
              <a:alpha val="9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392277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PLN + clasificación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858768"/>
            <a:ext cx="1508760" cy="329184"/>
          </a:xfrm>
          <a:prstGeom prst="roundRect">
            <a:avLst>
              <a:gd name="adj" fmla="val 33333"/>
            </a:avLst>
          </a:prstGeom>
          <a:solidFill>
            <a:srgbClr val="38BDF8">
              <a:alpha val="94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39227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Ámbito nacional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10515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600200"/>
            <a:ext cx="27889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YouTube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↓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Texto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↓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Modelo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↓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8FAFC"/>
                </a:solidFill>
              </a:rPr>
              <a:t>Riesgo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Decisión: ¿qué categorías conviene elegir?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Recomendación: usar 3 categorías de riesgo + 1 clase segura. No ampliar más en el MVP.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1508760"/>
            <a:ext cx="2514600" cy="4069080"/>
          </a:xfrm>
          <a:prstGeom prst="roundRect">
            <a:avLst>
              <a:gd name="adj" fmla="val 3636"/>
            </a:avLst>
          </a:prstGeom>
          <a:solidFill>
            <a:srgbClr val="123124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</a:rPr>
              <a:t>Bullying / acoso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6112" y="2468880"/>
            <a:ext cx="1856232" cy="329184"/>
          </a:xfrm>
          <a:prstGeom prst="roundRect">
            <a:avLst>
              <a:gd name="adj" fmla="val 33333"/>
            </a:avLst>
          </a:prstGeom>
          <a:solidFill>
            <a:srgbClr val="34D399">
              <a:alpha val="9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5328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sencillo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3063240"/>
            <a:ext cx="2057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Insultos, humillación, ataques personales. Abunda en comentarios y es fácil de anotar.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47288" y="1508760"/>
            <a:ext cx="2514600" cy="40690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7830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</a:rPr>
              <a:t>Sexual explícito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776472" y="2468880"/>
            <a:ext cx="1856232" cy="329184"/>
          </a:xfrm>
          <a:prstGeom prst="roundRect">
            <a:avLst>
              <a:gd name="adj" fmla="val 33333"/>
            </a:avLst>
          </a:prstGeom>
          <a:solidFill>
            <a:srgbClr val="FBBF24">
              <a:alpha val="94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25328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Sencillo-medio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75888" y="3063240"/>
            <a:ext cx="2057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Lenguaje sexual directo, insinuaciones fuertes o acoso sexual. Requiere reglas claras.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27648" y="1508760"/>
            <a:ext cx="2514600" cy="40690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830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</a:rPr>
              <a:t>Racismo / xenofobia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656832" y="2468880"/>
            <a:ext cx="1856232" cy="329184"/>
          </a:xfrm>
          <a:prstGeom prst="roundRect">
            <a:avLst>
              <a:gd name="adj" fmla="val 33333"/>
            </a:avLst>
          </a:prstGeom>
          <a:solidFill>
            <a:srgbClr val="FB923C">
              <a:alpha val="94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25328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3063240"/>
            <a:ext cx="2057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Ataques por raza, color, etnia, nacionalidad u origen. Necesita contexto cultural.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08008" y="1508760"/>
            <a:ext cx="2514600" cy="40690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17830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AFC"/>
                </a:solidFill>
              </a:rPr>
              <a:t>Seguro / normal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537192" y="2468880"/>
            <a:ext cx="1856232" cy="329184"/>
          </a:xfrm>
          <a:prstGeom prst="roundRect">
            <a:avLst>
              <a:gd name="adj" fmla="val 33333"/>
            </a:avLst>
          </a:prstGeom>
          <a:solidFill>
            <a:srgbClr val="38BDF8">
              <a:alpha val="94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0344" y="25328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Obligatorio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36608" y="3063240"/>
            <a:ext cx="2057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Contenido sin riesgo. Sirve para que el modelo no vea peligro en todo.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No separar “discriminación” como clase independiente en el MVP: se solapa con racismo, sexismo, homofobia, xenofobia. Mejor dejarla como extensión.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realista: moderación textual del video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Para PLN, no prometemos “ver” imágenes. Analizamos el texto que rodea al video y su audio transcrito.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Título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286000" y="18196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Frase corta: alto impacto en clasificación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2002536"/>
            <a:ext cx="594360" cy="9601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2651760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797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Descripción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286000" y="27797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Contexto del creador y enlaces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2962656"/>
            <a:ext cx="594360" cy="9601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3611880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39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Transcripción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286000" y="3739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Contenido hablado del video por fragmentos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3922776"/>
            <a:ext cx="594360" cy="9601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4572000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Comentarios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286000" y="4700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Reacción del público: útil para bullying y odio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304288"/>
            <a:ext cx="960120" cy="91440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60020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111D32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</a:rPr>
              <a:t>Unidad de análisis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29400" y="2487168"/>
            <a:ext cx="41148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El video se divide en fragmentos de texto.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Cada fragmento se clasifica y luego se agregan los resultados para emitir riesgo por video.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629400" y="411480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389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</a:rPr>
              <a:t>Video final: seguro / riesgo de bullying / sexual / racista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Datos: cómo bajar videos y obtener texto sin etiquetar con APIs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417320" y="1234440"/>
            <a:ext cx="731520" cy="7315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0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04288" y="160020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212848"/>
            <a:ext cx="2331720" cy="3291840"/>
          </a:xfrm>
          <a:prstGeom prst="roundRect">
            <a:avLst>
              <a:gd name="adj" fmla="val 392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0545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Seleccionar videos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3544" y="3154680"/>
            <a:ext cx="193852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</a:rPr>
              <a:t>30–50 videos peruanos: noticias, entrevistas, entretenimiento, debates, canales públicos.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206240" y="1234440"/>
            <a:ext cx="731520" cy="7315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0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3208" y="160020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2212848"/>
            <a:ext cx="2331720" cy="3291840"/>
          </a:xfrm>
          <a:prstGeom prst="roundRect">
            <a:avLst>
              <a:gd name="adj" fmla="val 392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250545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Extraer texto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12464" y="3154680"/>
            <a:ext cx="193852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</a:rPr>
              <a:t>Título, descripción, subtítulos. Si no hay subtítulos, descargar audio y transcribir localmente con Whisper.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995160" y="1234440"/>
            <a:ext cx="731520" cy="7315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0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82128" y="160020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2212848"/>
            <a:ext cx="2331720" cy="3291840"/>
          </a:xfrm>
          <a:prstGeom prst="roundRect">
            <a:avLst>
              <a:gd name="adj" fmla="val 392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50545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Trocear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1384" y="3154680"/>
            <a:ext cx="193852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</a:rPr>
              <a:t>Partir transcripción y comentarios en fragmentos: 1–3 oraciones o ventanas de 30–60 segundos.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784080" y="1234440"/>
            <a:ext cx="731520" cy="7315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0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98280" y="2212848"/>
            <a:ext cx="2331720" cy="3291840"/>
          </a:xfrm>
          <a:prstGeom prst="roundRect">
            <a:avLst>
              <a:gd name="adj" fmla="val 392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2505456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Etiquetar manualmente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90304" y="3154680"/>
            <a:ext cx="1938528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</a:rPr>
              <a:t>Dos personas etiquetan una muestra. No ChatGPT, no AWS, no Azure, no Google para etiquetar.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31520" y="59161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Herramientas posibles: yt-dlp para metadatos/audio, youtube-transcript-api si hay subtítulos, Whisper local para audio, pandas/sklearn/transformers para modelado.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Guía de etiquetas: mínima, clara y auditable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44622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Etiqueta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Criterio operativo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Nota de control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Seguro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Texto normal, informativo, humor no ofensivo.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Comentario neutro o positivo.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Bullying / acoso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Insulto, burla, humillación o ataque personal.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Ataques contra una persona/canal.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Sexual explícito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Contenido sexual directo, acoso sexual, referencias sexuales explícitas.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Evitar etiquetar romance común como sexual.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Racismo / xenofobia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Ataque a raza, etnia, color de piel, nacionalidad u origen.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No confundir crítica política con ataque a grupo protegido.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6126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2D3EE"/>
                </a:solidFill>
              </a:rPr>
              <a:t>Control de calidad: si dos anotadores discrepan, se revisa en consenso. Medir acuerdo: Cohen’s κ.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Algoritmo: del video al dictamen de riesgo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Video nacional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YouTube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32888" y="2514600"/>
            <a:ext cx="2103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Extracción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7180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título + descripción + transcripción + comentarios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64608" y="2514600"/>
            <a:ext cx="2103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8288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Fragmentos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chunks de texto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96328" y="2514600"/>
            <a:ext cx="2103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18288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5314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Modelo PLN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clasificador multiclase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28048" y="2514600"/>
            <a:ext cx="2103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18288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Agregación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6696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riesgo por video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828800" y="4069080"/>
            <a:ext cx="854964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4315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Regla de decisión por video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42702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riesgo = categoría dominante si ≥ 2 fragmentos superan umbral o si un fragmento crítico supera probabilidad alta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5961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Salida esperada: tabla con video, categoría, score, fragmentos que activaron el riesgo y evidencia textual.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Modelos: de lo explicable a lo avanzado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4800600" cy="4389120"/>
          </a:xfrm>
          <a:prstGeom prst="roundRect">
            <a:avLst>
              <a:gd name="adj" fmla="val 2083"/>
            </a:avLst>
          </a:prstGeom>
          <a:solidFill>
            <a:srgbClr val="112036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D399"/>
                </a:solidFill>
              </a:rPr>
              <a:t>MVP obligatorio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TF-IDF + Linear SVM / Logistic Regression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816352"/>
            <a:ext cx="42062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Ventajas: rápido, explicable, suficiente para una primera defensa. Permite mostrar palabras importantes por clase.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Métricas: F1 macro, precision/recall por clase, matriz de confusión.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234440"/>
            <a:ext cx="4800600" cy="4389120"/>
          </a:xfrm>
          <a:prstGeom prst="roundRect">
            <a:avLst>
              <a:gd name="adj" fmla="val 2083"/>
            </a:avLst>
          </a:prstGeom>
          <a:solidFill>
            <a:srgbClr val="1B1735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78BFA"/>
                </a:solidFill>
              </a:rPr>
              <a:t>Extensión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65392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BETO / RoBERTa español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816352"/>
            <a:ext cx="42062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Ventajas: entiende más contexto, ironía y variaciones del español. Requiere más tiempo y GPU/Colab.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Uso recomendado: comparar contra el baseline, no reemplazarlo sin evidencia.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</a:rPr>
              <a:t>La defensa mejora si se muestra un modelo simple funcionando antes de invocar Transformers como si fueran oráculos con GPU.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Evaluación: cómo demostrar que funciona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Datos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463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Train 70%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Validación 15%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Test 15%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Métricas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1463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Accuracy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F1 macro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Recall por clase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Calidad humana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Acuerdo entre anotadores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Cohen’s κ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revisión de desacuerdos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923C"/>
                </a:solidFill>
              </a:rPr>
              <a:t>Caso YouTube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Top videos con riesgo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fragmentos detectados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score final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828800" y="5577840"/>
            <a:ext cx="854964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5742432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2D3EE"/>
                </a:solidFill>
              </a:rPr>
              <a:t>Meta realista: F1 macro ≥ 0.65 en MVP. Si las clases están desbalanceadas, priorizar recall en categorías de riesgo.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trabajo y entregables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2331720" cy="4297680"/>
          </a:xfrm>
          <a:prstGeom prst="roundRect">
            <a:avLst>
              <a:gd name="adj" fmla="val 3529"/>
            </a:avLst>
          </a:prstGeom>
          <a:solidFill>
            <a:srgbClr val="12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4D399"/>
                </a:solidFill>
              </a:rPr>
              <a:t>Semana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832" y="2606040"/>
            <a:ext cx="18288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Definir categorías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seleccionar videos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guía de anotación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081528" y="3474720"/>
            <a:ext cx="28346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371600"/>
            <a:ext cx="2331720" cy="4297680"/>
          </a:xfrm>
          <a:prstGeom prst="roundRect">
            <a:avLst>
              <a:gd name="adj" fmla="val 3529"/>
            </a:avLst>
          </a:prstGeom>
          <a:solidFill>
            <a:srgbClr val="12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8BDF8"/>
                </a:solidFill>
              </a:rPr>
              <a:t>Semana 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30752" y="2606040"/>
            <a:ext cx="18288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Extraer texto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transcribir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crear fragmentos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70448" y="3474720"/>
            <a:ext cx="28346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1371600"/>
            <a:ext cx="2331720" cy="4297680"/>
          </a:xfrm>
          <a:prstGeom prst="roundRect">
            <a:avLst>
              <a:gd name="adj" fmla="val 3529"/>
            </a:avLst>
          </a:prstGeom>
          <a:solidFill>
            <a:srgbClr val="121B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BBF24"/>
                </a:solidFill>
              </a:rPr>
              <a:t>Semana 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19672" y="2606040"/>
            <a:ext cx="18288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Etiquetado manual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control de calidad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dataset final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659368" y="3474720"/>
            <a:ext cx="28346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371600"/>
            <a:ext cx="2331720" cy="4297680"/>
          </a:xfrm>
          <a:prstGeom prst="roundRect">
            <a:avLst>
              <a:gd name="adj" fmla="val 3529"/>
            </a:avLst>
          </a:prstGeom>
          <a:solidFill>
            <a:srgbClr val="14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B923C"/>
                </a:solidFill>
              </a:rPr>
              <a:t>Semana 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08592" y="2606040"/>
            <a:ext cx="18288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Entrenamiento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evaluación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</a:rPr>
              <a:t>PPT + demo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" y="598932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Entregables: dataset CSV, notebook, modelo entrenado, matriz de confusión, tabla de videos clasificados y presentación final.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548640"/>
            <a:ext cx="3200400" cy="3200400"/>
          </a:xfrm>
          <a:prstGeom prst="arc">
            <a:avLst/>
          </a:prstGeom>
          <a:noFill/>
          <a:ln w="254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4846320"/>
            <a:ext cx="2743200" cy="2743200"/>
          </a:xfrm>
          <a:prstGeom prst="arc">
            <a:avLst/>
          </a:prstGeom>
          <a:noFill/>
          <a:ln w="254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decisión final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Decisión recomendada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44348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Proyecto: moderador textual de videos de YouTube del ámbito nacional.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Clases MVP: seguro, bullying/acoso, sexual explícito, racismo/xenofobia.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Método: datos de YouTube + anotación manual + TF-IDF/SVM + evaluación por F1 macro.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9264" y="4800600"/>
            <a:ext cx="2423160" cy="329184"/>
          </a:xfrm>
          <a:prstGeom prst="roundRect">
            <a:avLst>
              <a:gd name="adj" fmla="val 33333"/>
            </a:avLst>
          </a:prstGeom>
          <a:solidFill>
            <a:srgbClr val="34D399">
              <a:alpha val="9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86460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sencillo: bullying/acoso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4800600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B923C">
              <a:alpha val="94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486460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delicado: racismo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05156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121B2D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Referencias útiles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537960" y="1965960"/>
            <a:ext cx="45720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• Spanish Hate Speech Superset: Hugging Face, 29,855 posts anotados.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• Hate Speech Dataset Catalogue: catálogo de datasets de odio/ofensividad.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• Abusive language detection in YouTube comments: dataset anotado de comentarios.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• BETO / modelos BERT en español: alternativa para extensión avanzada.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37960" y="3977640"/>
            <a:ext cx="4617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URLs: huggingface.co/datasets/manueltonneau/spanish-hate-speech-superset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hatespeechdata.com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pmc.ncbi.nlm.nih.gov/articles/PMC8507480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huggingface.co/dccuchile/bert-base-spanish-wwm-cased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" y="598932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22D3EE"/>
                </a:solidFill>
              </a:rPr>
              <a:t>Nota: los datasets públicos sirven como apoyo; el núcleo del trabajo debe ser la muestra nacional de YouTube etiquetada manualmente.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1010</Words>
  <Application>Microsoft Macintosh PowerPoint</Application>
  <PresentationFormat>Panorámica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 - PLN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Moderador de contenido en videos de YouTube</dc:title>
  <dc:subject>Propuesta de Trabajo Final PLN</dc:subject>
  <dc:creator>OpenAI</dc:creator>
  <cp:lastModifiedBy>Familia Mancilla Cruz</cp:lastModifiedBy>
  <cp:revision>2</cp:revision>
  <dcterms:created xsi:type="dcterms:W3CDTF">2026-06-28T00:45:27Z</dcterms:created>
  <dcterms:modified xsi:type="dcterms:W3CDTF">2026-06-28T00:51:30Z</dcterms:modified>
</cp:coreProperties>
</file>